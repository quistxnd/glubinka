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4"/>
      <p:bold r:id="rId15"/>
    </p:embeddedFont>
    <p:embeddedFont>
      <p:font typeface="JetBrains Mono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614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00575"/>
            <a:ext cx="6096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695450"/>
            <a:ext cx="40300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2563EB"/>
                </a:solidFill>
                <a:latin typeface="DM Sans"/>
              </a:rPr>
              <a:t>ЛАБОРАТОРНАЯ РАБОТА №1 • ГЛУБ</a:t>
            </a:r>
            <a:r>
              <a:rPr lang="ru-RU" sz="1200" dirty="0">
                <a:solidFill>
                  <a:srgbClr val="2563EB"/>
                </a:solidFill>
                <a:latin typeface="DM Sans"/>
              </a:rPr>
              <a:t>ИННО</a:t>
            </a:r>
            <a:r>
              <a:rPr sz="1200" b="0" i="0" u="none" dirty="0">
                <a:solidFill>
                  <a:srgbClr val="2563EB"/>
                </a:solidFill>
                <a:latin typeface="DM Sans"/>
              </a:rPr>
              <a:t>Е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47875"/>
            <a:ext cx="9101137" cy="139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FFFFF"/>
                </a:solidFill>
                <a:latin typeface="DM Sans"/>
              </a:rPr>
              <a:t>Реализация взаимодействия агента со средой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67125"/>
            <a:ext cx="6953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A1A1AA"/>
                </a:solidFill>
                <a:latin typeface="DM Sans"/>
              </a:rPr>
              <a:t>Моделирование работы агента-доставщика в стохастической городской среде с динамическим трафиком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933950"/>
            <a:ext cx="238366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E4E4E7"/>
                </a:solidFill>
                <a:latin typeface="DM Sans"/>
              </a:rPr>
              <a:t>Выполнил</a:t>
            </a:r>
            <a:r>
              <a:rPr sz="1350" b="0" i="0" u="none" dirty="0">
                <a:solidFill>
                  <a:srgbClr val="E4E4E7"/>
                </a:solidFill>
                <a:latin typeface="DM Sans"/>
              </a:rPr>
              <a:t>: Гуров</a:t>
            </a:r>
            <a:r>
              <a:rPr lang="ru-RU" sz="1350" dirty="0">
                <a:solidFill>
                  <a:srgbClr val="E4E4E7"/>
                </a:solidFill>
                <a:latin typeface="DM Sans"/>
              </a:rPr>
              <a:t> Иван 932302</a:t>
            </a:r>
            <a:endParaRPr sz="1350" b="0" i="0" u="none" dirty="0">
              <a:solidFill>
                <a:srgbClr val="E4E4E7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Цель и параметры моделирования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81262"/>
            <a:ext cx="5038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Цель работы:</a:t>
            </a:r>
            <a:r>
              <a:rPr sz="1650" b="0" i="0" u="none">
                <a:solidFill>
                  <a:srgbClr val="18181B"/>
                </a:solidFill>
                <a:latin typeface="DM Sans"/>
              </a:rPr>
              <a:t> Создание городской среды с неопределённостью.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62312"/>
            <a:ext cx="5038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111111"/>
                </a:solidFill>
                <a:latin typeface="DM Sans"/>
              </a:rPr>
              <a:t>Задача</a:t>
            </a:r>
            <a:r>
              <a:rPr sz="1650" b="1" i="0" u="none" dirty="0">
                <a:solidFill>
                  <a:srgbClr val="111111"/>
                </a:solidFill>
                <a:latin typeface="DM Sans"/>
              </a:rPr>
              <a:t> </a:t>
            </a:r>
            <a:r>
              <a:rPr sz="1650" b="1" i="0" u="none" dirty="0" err="1">
                <a:solidFill>
                  <a:srgbClr val="111111"/>
                </a:solidFill>
                <a:latin typeface="DM Sans"/>
              </a:rPr>
              <a:t>агента</a:t>
            </a:r>
            <a:r>
              <a:rPr sz="1650" b="1" i="0" u="none" dirty="0">
                <a:solidFill>
                  <a:srgbClr val="111111"/>
                </a:solidFill>
                <a:latin typeface="DM Sans"/>
              </a:rPr>
              <a:t>: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18181B"/>
                </a:solidFill>
                <a:latin typeface="DM Sans"/>
              </a:rPr>
              <a:t>Безопасная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18181B"/>
                </a:solidFill>
                <a:latin typeface="DM Sans"/>
              </a:rPr>
              <a:t>доставка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18181B"/>
                </a:solidFill>
                <a:latin typeface="DM Sans"/>
              </a:rPr>
              <a:t>груза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 в </a:t>
            </a:r>
            <a:r>
              <a:rPr sz="1650" b="0" i="0" u="none" dirty="0" err="1">
                <a:solidFill>
                  <a:srgbClr val="18181B"/>
                </a:solidFill>
                <a:latin typeface="DM Sans"/>
              </a:rPr>
              <a:t>целевую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18181B"/>
                </a:solidFill>
                <a:latin typeface="DM Sans"/>
              </a:rPr>
              <a:t>точку</a:t>
            </a:r>
            <a:r>
              <a:rPr sz="1650" b="0" i="0" u="none" dirty="0">
                <a:solidFill>
                  <a:srgbClr val="18181B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43362"/>
            <a:ext cx="5038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Действия на шаге:</a:t>
            </a:r>
            <a:r>
              <a:rPr sz="1650" b="0" i="0" u="none">
                <a:solidFill>
                  <a:srgbClr val="18181B"/>
                </a:solidFill>
                <a:latin typeface="DM Sans"/>
              </a:rPr>
              <a:t> Вверх, вниз, влево, вправо, ожидание.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824412"/>
            <a:ext cx="5038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Условие отказа:</a:t>
            </a:r>
            <a:r>
              <a:rPr sz="1650" b="0" i="0" u="none">
                <a:solidFill>
                  <a:srgbClr val="18181B"/>
                </a:solidFill>
                <a:latin typeface="DM Sans"/>
              </a:rPr>
              <a:t> Столкновение с транспортом или тайм-аут.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257425"/>
            <a:ext cx="5553075" cy="695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 dirty="0">
                <a:solidFill>
                  <a:srgbClr val="111111"/>
                </a:solidFill>
                <a:latin typeface="DM Sans"/>
              </a:rPr>
              <a:t>50 ×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990850"/>
            <a:ext cx="55530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Размер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дискретной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карты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города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(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клеток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448050"/>
            <a:ext cx="5553075" cy="695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2563EB"/>
                </a:solidFill>
                <a:latin typeface="DM Sans"/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4181475"/>
            <a:ext cx="55530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Максимальный лимит шагов на один эпизод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638675"/>
            <a:ext cx="5553075" cy="695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11111"/>
                </a:solidFill>
                <a:latin typeface="DM Sans"/>
              </a:rPr>
              <a:t>3 ×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5372100"/>
            <a:ext cx="55530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Стартовые позиции и стратегии навигации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376487"/>
            <a:ext cx="5257800" cy="3028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53305"/>
              </p:ext>
            </p:extLst>
          </p:nvPr>
        </p:nvGraphicFramePr>
        <p:xfrm>
          <a:off x="609600" y="2376487"/>
          <a:ext cx="5257798" cy="3028950"/>
        </p:xfrm>
        <a:graphic>
          <a:graphicData uri="http://schemas.openxmlformats.org/drawingml/2006/table">
            <a:tbl>
              <a:tblPr/>
              <a:tblGrid>
                <a:gridCol w="660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Код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Тип ячейки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Количество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Проезжая дорога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Двустороннее движение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Препятствия и здания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Непроходимые зоны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A34A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Старт агента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3 точки на карте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97706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Генерация трафика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4 </a:t>
                      </a:r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точ</a:t>
                      </a:r>
                      <a:r>
                        <a:rPr lang="ru-RU"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ки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спавна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8181B"/>
                          </a:solidFill>
                          <a:latin typeface="DM Sans"/>
                        </a:rPr>
                        <a:t>Целевая область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Координата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(49, </a:t>
                      </a:r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3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9)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ФОРМИРОВАНИЕ КАРТЫ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Оцифровка участка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0593" y="5900737"/>
            <a:ext cx="263694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52525B"/>
                </a:solidFill>
                <a:latin typeface="DM Sans"/>
              </a:rPr>
              <a:t>Рис</a:t>
            </a:r>
            <a:r>
              <a:rPr sz="1125" b="0" i="0" u="none" dirty="0">
                <a:solidFill>
                  <a:srgbClr val="52525B"/>
                </a:solidFill>
                <a:latin typeface="DM Sans"/>
              </a:rPr>
              <a:t>. 1. </a:t>
            </a:r>
            <a:r>
              <a:rPr sz="1125" b="0" i="0" u="none" dirty="0" err="1">
                <a:solidFill>
                  <a:srgbClr val="52525B"/>
                </a:solidFill>
                <a:latin typeface="DM Sans"/>
              </a:rPr>
              <a:t>Исходный</a:t>
            </a:r>
            <a:r>
              <a:rPr lang="ru-RU" sz="1125" dirty="0">
                <a:solidFill>
                  <a:srgbClr val="52525B"/>
                </a:solidFill>
                <a:latin typeface="DM Sans"/>
              </a:rPr>
              <a:t> </a:t>
            </a:r>
            <a:r>
              <a:rPr sz="1125" b="0" i="0" u="none" dirty="0" err="1">
                <a:solidFill>
                  <a:srgbClr val="52525B"/>
                </a:solidFill>
                <a:latin typeface="DM Sans"/>
              </a:rPr>
              <a:t>снимок</a:t>
            </a:r>
            <a:r>
              <a:rPr sz="1125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125" b="0" i="0" u="none" dirty="0" err="1">
                <a:solidFill>
                  <a:srgbClr val="52525B"/>
                </a:solidFill>
                <a:latin typeface="DM Sans"/>
              </a:rPr>
              <a:t>дорожной</a:t>
            </a:r>
            <a:r>
              <a:rPr sz="1125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125" b="0" i="0" u="none" dirty="0" err="1">
                <a:solidFill>
                  <a:srgbClr val="52525B"/>
                </a:solidFill>
                <a:latin typeface="DM Sans"/>
              </a:rPr>
              <a:t>сети</a:t>
            </a:r>
            <a:endParaRPr sz="1125" b="0" i="0" u="none" dirty="0">
              <a:solidFill>
                <a:srgbClr val="52525B"/>
              </a:solidFill>
              <a:latin typeface="DM Sa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B50B91-85BC-288A-B333-AC6D373F6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063" y="2108199"/>
            <a:ext cx="4572000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34300" y="2476500"/>
            <a:ext cx="384810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34300" y="3495675"/>
            <a:ext cx="384810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34300" y="4514850"/>
            <a:ext cx="384810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34300" y="2476500"/>
            <a:ext cx="28575" cy="790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34300" y="3495675"/>
            <a:ext cx="28575" cy="790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34300" y="4514850"/>
            <a:ext cx="28575" cy="790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ДИСКРЕТНАЯ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Цифровая карта среды (citymap.txt)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3375" y="2476500"/>
            <a:ext cx="4238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Точки старта (Код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75" y="2809875"/>
            <a:ext cx="372427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Три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позиции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на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разном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удалении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от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цели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: (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3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, 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3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), (</a:t>
            </a:r>
            <a:r>
              <a:rPr lang="ru-RU" sz="1350" dirty="0">
                <a:solidFill>
                  <a:srgbClr val="52525B"/>
                </a:solidFill>
                <a:latin typeface="DM Sans"/>
              </a:rPr>
              <a:t>3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2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, 3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) и (</a:t>
            </a:r>
            <a:r>
              <a:rPr lang="ru-RU" sz="1350" dirty="0">
                <a:solidFill>
                  <a:srgbClr val="52525B"/>
                </a:solidFill>
                <a:latin typeface="DM Sans"/>
              </a:rPr>
              <a:t>15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, </a:t>
            </a:r>
            <a:r>
              <a:rPr lang="ru-RU" sz="1350" dirty="0">
                <a:solidFill>
                  <a:srgbClr val="52525B"/>
                </a:solidFill>
                <a:latin typeface="DM Sans"/>
              </a:rPr>
              <a:t>25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75" y="3495675"/>
            <a:ext cx="4238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Источники трафика (Код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375" y="3829050"/>
            <a:ext cx="372427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50" dirty="0">
                <a:solidFill>
                  <a:srgbClr val="52525B"/>
                </a:solidFill>
                <a:latin typeface="DM Sans"/>
              </a:rPr>
              <a:t>4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точ</a:t>
            </a:r>
            <a:r>
              <a:rPr lang="ru-RU" sz="1350" dirty="0" err="1">
                <a:solidFill>
                  <a:srgbClr val="52525B"/>
                </a:solidFill>
                <a:latin typeface="DM Sans"/>
              </a:rPr>
              <a:t>ки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появления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автомобилей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,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распределённых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по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дорожной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сети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3375" y="4514850"/>
            <a:ext cx="4238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Пункт доставки (Код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3375" y="4848225"/>
            <a:ext cx="372427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Единая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целевая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координата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в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нижней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части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карты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.</a:t>
            </a:r>
            <a:endParaRPr sz="1350" b="0" i="0" u="none" dirty="0">
              <a:solidFill>
                <a:srgbClr val="52525B"/>
              </a:solidFill>
              <a:latin typeface="DM Sans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E22DAAD-883B-AB4F-51FB-709FEBDB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556" y="1581150"/>
            <a:ext cx="4904437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СТОХАСТИЧЕСКАЯ СРЕДА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Алгоритм движения транспорта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6708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DM Sans"/>
              </a:rPr>
              <a:t>ШАГ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81412"/>
            <a:ext cx="27503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Генерация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33837"/>
            <a:ext cx="2190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Появление в точках 3 с вероятностью 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36708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DM Sans"/>
              </a:rPr>
              <a:t>ШАГ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681412"/>
            <a:ext cx="27503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Инерция 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4033837"/>
            <a:ext cx="2190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Сохранение прежнего курса на прямой дороге.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6708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DM Sans"/>
              </a:rPr>
              <a:t>ШАГ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681412"/>
            <a:ext cx="27503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Развилки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033837"/>
            <a:ext cx="2190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Равновероятный выбор направления на перекрёстке.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36708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DM Sans"/>
              </a:rPr>
              <a:t>ШАГ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681412"/>
            <a:ext cx="27503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DM Sans"/>
              </a:rPr>
              <a:t>Парковка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33837"/>
            <a:ext cx="2190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Удаление с карты через 15–150 шагов.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АЛГОРИТМЫ УПРАВЛЕНИЯ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Три стратегии навигации агента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8185" y="3724275"/>
            <a:ext cx="286456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111111"/>
                </a:solidFill>
                <a:latin typeface="DM Sans"/>
              </a:rPr>
              <a:t>Dynamic</a:t>
            </a:r>
            <a:r>
              <a:rPr sz="1800" b="1" i="0" u="none" dirty="0">
                <a:solidFill>
                  <a:srgbClr val="111111"/>
                </a:solidFill>
                <a:latin typeface="DM Sans"/>
              </a:rPr>
              <a:t> (</a:t>
            </a:r>
            <a:r>
              <a:rPr lang="ru-RU" b="1" dirty="0">
                <a:solidFill>
                  <a:srgbClr val="111111"/>
                </a:solidFill>
                <a:latin typeface="DM Sans"/>
              </a:rPr>
              <a:t>Динамический </a:t>
            </a:r>
          </a:p>
          <a:p>
            <a:pPr algn="l"/>
            <a:r>
              <a:rPr lang="ru-RU" sz="1800" b="1" i="0" u="none" dirty="0">
                <a:solidFill>
                  <a:srgbClr val="111111"/>
                </a:solidFill>
                <a:latin typeface="DM Sans"/>
              </a:rPr>
              <a:t>объезд</a:t>
            </a:r>
            <a:r>
              <a:rPr sz="1800" b="1" i="0" u="none" dirty="0">
                <a:solidFill>
                  <a:srgbClr val="111111"/>
                </a:solidFill>
                <a:latin typeface="DM San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8185" y="4260850"/>
            <a:ext cx="292104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Объезд возникнувших заторов</a:t>
            </a:r>
            <a:endParaRPr sz="1350" b="0" i="0" u="none" dirty="0">
              <a:solidFill>
                <a:srgbClr val="52525B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2754" y="3724275"/>
            <a:ext cx="5578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11111"/>
                </a:solidFill>
                <a:latin typeface="DM Sans"/>
              </a:rPr>
              <a:t>Blind</a:t>
            </a:r>
            <a:endParaRPr sz="1800" b="1" i="0" u="none" dirty="0">
              <a:solidFill>
                <a:srgbClr val="111111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2754" y="4133850"/>
            <a:ext cx="292104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Движение «напролом», игнорируя машины</a:t>
            </a:r>
            <a:endParaRPr sz="1350" b="0" i="0" u="none" dirty="0">
              <a:solidFill>
                <a:srgbClr val="52525B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82004" y="3724275"/>
            <a:ext cx="105958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111111"/>
                </a:solidFill>
                <a:latin typeface="DM Sans"/>
              </a:rPr>
              <a:t>Cautious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2004" y="4133850"/>
            <a:ext cx="292104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50" dirty="0">
                <a:solidFill>
                  <a:srgbClr val="52525B"/>
                </a:solidFill>
                <a:latin typeface="DM Sans"/>
              </a:rPr>
              <a:t>Замирает при встречной машине</a:t>
            </a:r>
            <a:endParaRPr sz="1350" b="0" i="0" u="none" dirty="0">
              <a:solidFill>
                <a:srgbClr val="52525B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543175"/>
            <a:ext cx="6915150" cy="273367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ПРОГРАММНАЯ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Архитектура среды и план экспериментов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809875"/>
            <a:ext cx="64770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class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CityEnvironment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: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dirty="0">
                <a:solidFill>
                  <a:srgbClr val="F4F4F5"/>
                </a:solidFill>
                <a:latin typeface="JetBrains Mono"/>
              </a:rPr>
              <a:t>	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def __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init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__(self,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map_file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="citymap.txt",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dirty="0">
                <a:solidFill>
                  <a:srgbClr val="F4F4F5"/>
                </a:solidFill>
                <a:latin typeface="JetBrains Mono"/>
              </a:rPr>
              <a:t>			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spawn_prob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=0.03,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max_steps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=400):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self.grid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np.loadtxt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(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map_file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,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dtype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=int)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self.spawn_prob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spawn_prob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self.max_steps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max_steps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self.start_positions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list(zip(*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np.where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(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self.grid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== 2)))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self.spawn_positions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list(zip(*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np.where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(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self.grid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== 3)))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self.goal_pos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tuple(zip(*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np.where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(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self.grid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== 4)))[0] </a:t>
            </a:r>
            <a:endParaRPr lang="ru-RU" sz="1200" b="0" i="0" dirty="0">
              <a:solidFill>
                <a:srgbClr val="F4F4F5"/>
              </a:solidFill>
              <a:effectLst/>
              <a:latin typeface="JetBrains Mono"/>
            </a:endParaRPr>
          </a:p>
          <a:p>
            <a:pPr algn="l"/>
            <a:r>
              <a:rPr lang="ru-RU" sz="1200" b="0" i="0" dirty="0">
                <a:solidFill>
                  <a:srgbClr val="F4F4F5"/>
                </a:solidFill>
                <a:effectLst/>
                <a:latin typeface="JetBrains Mono"/>
              </a:rPr>
              <a:t>		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self.vehicles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[] </a:t>
            </a:r>
            <a:r>
              <a:rPr lang="en-US" sz="1200" b="0" i="0" dirty="0" err="1">
                <a:solidFill>
                  <a:srgbClr val="F4F4F5"/>
                </a:solidFill>
                <a:effectLst/>
                <a:latin typeface="JetBrains Mono"/>
              </a:rPr>
              <a:t>self.current_step</a:t>
            </a:r>
            <a:r>
              <a:rPr lang="en-US" sz="1200" b="0" i="0" dirty="0">
                <a:solidFill>
                  <a:srgbClr val="F4F4F5"/>
                </a:solidFill>
                <a:effectLst/>
                <a:latin typeface="JetBrains Mono"/>
              </a:rPr>
              <a:t> = 0</a:t>
            </a:r>
            <a:endParaRPr sz="1200" b="0" i="0" u="none" dirty="0">
              <a:solidFill>
                <a:srgbClr val="F4F4F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1950" y="3429000"/>
            <a:ext cx="2712281" cy="6001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 dirty="0">
                <a:solidFill>
                  <a:srgbClr val="111111"/>
                </a:solidFill>
                <a:latin typeface="DM Sans"/>
              </a:rPr>
              <a:t>0.0</a:t>
            </a:r>
            <a:r>
              <a:rPr lang="ru-RU" sz="3900" b="1" i="0" u="none" dirty="0">
                <a:solidFill>
                  <a:srgbClr val="111111"/>
                </a:solidFill>
                <a:latin typeface="DM Sans"/>
              </a:rPr>
              <a:t>1</a:t>
            </a:r>
            <a:r>
              <a:rPr sz="3900" b="1" i="0" u="none" dirty="0">
                <a:solidFill>
                  <a:srgbClr val="111111"/>
                </a:solidFill>
                <a:latin typeface="DM Sans"/>
              </a:rPr>
              <a:t> – 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1950" y="4114800"/>
            <a:ext cx="33584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Диапазон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вероятностей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спавна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(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4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уровн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я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53100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753100"/>
            <a:ext cx="1097280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РЕЗУЛЬТАТЫ МОДЕЛИРОВАНИЯ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Влияние интенсивности генерации трафика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15025"/>
            <a:ext cx="53530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18181B"/>
                </a:solidFill>
                <a:latin typeface="DM Sans"/>
              </a:rPr>
              <a:t>Dynamic</a:t>
            </a:r>
            <a:r>
              <a:rPr sz="1350" b="1" i="0" u="none" dirty="0">
                <a:solidFill>
                  <a:srgbClr val="18181B"/>
                </a:solidFill>
                <a:latin typeface="DM Sans"/>
              </a:rPr>
              <a:t>:</a:t>
            </a:r>
            <a:r>
              <a:rPr sz="1350" b="0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lang="ru-RU" sz="1350" b="0" i="0" u="none" dirty="0">
                <a:solidFill>
                  <a:srgbClr val="18181B"/>
                </a:solidFill>
                <a:latin typeface="DM Sans"/>
              </a:rPr>
              <a:t>Рост числа шагов с 61 до 77 из-за необходимости объезжать заторы по соседним улицам при росте трафика.</a:t>
            </a:r>
            <a:endParaRPr sz="1350" b="0" i="0" u="none" dirty="0">
              <a:solidFill>
                <a:srgbClr val="18181B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0" y="5915025"/>
            <a:ext cx="53530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18181B"/>
                </a:solidFill>
                <a:latin typeface="DM Sans"/>
              </a:rPr>
              <a:t>Blind </a:t>
            </a:r>
            <a:r>
              <a:rPr lang="ru-RU" sz="1350" b="1" i="0" u="none" dirty="0">
                <a:solidFill>
                  <a:srgbClr val="18181B"/>
                </a:solidFill>
                <a:latin typeface="DM Sans"/>
              </a:rPr>
              <a:t>и </a:t>
            </a:r>
            <a:r>
              <a:rPr lang="en-US" sz="1350" b="1" i="0" u="none" dirty="0">
                <a:solidFill>
                  <a:srgbClr val="18181B"/>
                </a:solidFill>
                <a:latin typeface="DM Sans"/>
              </a:rPr>
              <a:t>Cautious:</a:t>
            </a:r>
            <a:r>
              <a:rPr lang="ru-RU" sz="1350" b="1" i="0" u="none" dirty="0">
                <a:solidFill>
                  <a:srgbClr val="18181B"/>
                </a:solidFill>
                <a:latin typeface="DM Sans"/>
              </a:rPr>
              <a:t> </a:t>
            </a:r>
            <a:r>
              <a:rPr lang="ru-RU" sz="1350" b="0" i="0" u="none" dirty="0">
                <a:solidFill>
                  <a:srgbClr val="18181B"/>
                </a:solidFill>
                <a:latin typeface="DM Sans"/>
              </a:rPr>
              <a:t>Длина пути стабильна (~57 шагов) из-за «ошибки выжившего» — доезжают только те редкие агенты, которым случайно досталась пустая дорога.</a:t>
            </a:r>
            <a:endParaRPr sz="1350" b="0" i="0" u="none" dirty="0">
              <a:solidFill>
                <a:srgbClr val="18181B"/>
              </a:solidFill>
              <a:latin typeface="DM San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437104-A62A-9F5A-B906-F7F0C2393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1228725"/>
            <a:ext cx="7105650" cy="444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53100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753100"/>
            <a:ext cx="1097280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СТАТИСТИЧЕСКИЙ РАЗБРОС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Диаграммы размаха (Boxplot) при p = 0.03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15025"/>
            <a:ext cx="53530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400" b="1" dirty="0"/>
              <a:t>Лидер по надёжности:</a:t>
            </a:r>
            <a:r>
              <a:rPr lang="ru-RU" sz="1400" dirty="0"/>
              <a:t> Стратегия </a:t>
            </a:r>
            <a:r>
              <a:rPr lang="ru-RU" sz="1400" b="1" dirty="0"/>
              <a:t>Dynamic</a:t>
            </a:r>
            <a:r>
              <a:rPr lang="ru-RU" sz="1400" dirty="0"/>
              <a:t> достигает медианы успеха </a:t>
            </a:r>
            <a:r>
              <a:rPr lang="ru-RU" sz="1400" b="1" dirty="0"/>
              <a:t>~88%</a:t>
            </a:r>
            <a:r>
              <a:rPr lang="ru-RU" sz="1400" dirty="0"/>
              <a:t> благодаря активному поиску объездных путей.</a:t>
            </a:r>
            <a:endParaRPr lang="ru-RU" sz="1350" b="0" i="0" u="none" dirty="0">
              <a:solidFill>
                <a:srgbClr val="18181B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0" y="5915025"/>
            <a:ext cx="53530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50" b="1" i="0" u="none" dirty="0">
                <a:solidFill>
                  <a:srgbClr val="18181B"/>
                </a:solidFill>
                <a:latin typeface="DM Sans"/>
              </a:rPr>
              <a:t>Парадокс остановки (</a:t>
            </a:r>
            <a:r>
              <a:rPr lang="ru-RU" sz="1350" b="1" i="0" u="none" dirty="0" err="1">
                <a:solidFill>
                  <a:srgbClr val="18181B"/>
                </a:solidFill>
                <a:latin typeface="DM Sans"/>
              </a:rPr>
              <a:t>Cautious</a:t>
            </a:r>
            <a:r>
              <a:rPr lang="ru-RU" sz="1350" b="1" i="0" u="none" dirty="0">
                <a:solidFill>
                  <a:srgbClr val="18181B"/>
                </a:solidFill>
                <a:latin typeface="DM Sans"/>
              </a:rPr>
              <a:t>): </a:t>
            </a:r>
            <a:r>
              <a:rPr lang="ru-RU" sz="1350" i="0" u="none" dirty="0">
                <a:solidFill>
                  <a:srgbClr val="18181B"/>
                </a:solidFill>
                <a:latin typeface="DM Sans"/>
              </a:rPr>
              <a:t>Ожидание показало худший результат (~56%), так как стоящий на проезжей части агент провоцирует наезд попутных машин сзади</a:t>
            </a:r>
            <a:r>
              <a:rPr lang="ru-RU" sz="1350" b="1" i="0" u="none" dirty="0">
                <a:solidFill>
                  <a:srgbClr val="18181B"/>
                </a:solidFill>
                <a:latin typeface="DM Sans"/>
              </a:rPr>
              <a:t>.</a:t>
            </a:r>
            <a:endParaRPr lang="ru-RU" sz="1350" b="0" i="0" u="none" dirty="0">
              <a:solidFill>
                <a:srgbClr val="18181B"/>
              </a:solidFill>
              <a:latin typeface="DM San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EE8247B-5FA1-F5DE-CBCA-8CB28BE2A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736" y="1496218"/>
            <a:ext cx="6949828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ТРАЕКТОРИЯ ДВИЖЕНИЯ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Пошаговая визуализация перемещения агента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5800" y="2447925"/>
            <a:ext cx="253691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111111"/>
                </a:solidFill>
                <a:latin typeface="DM Sans"/>
              </a:rPr>
              <a:t>Старт</a:t>
            </a:r>
            <a:r>
              <a:rPr sz="1650" b="1" i="0" u="none" dirty="0">
                <a:solidFill>
                  <a:srgbClr val="111111"/>
                </a:solidFill>
                <a:latin typeface="DM Sans"/>
              </a:rPr>
              <a:t> </a:t>
            </a:r>
            <a:r>
              <a:rPr lang="ru-RU" sz="1650" b="1" dirty="0">
                <a:solidFill>
                  <a:srgbClr val="111111"/>
                </a:solidFill>
                <a:latin typeface="DM Sans"/>
              </a:rPr>
              <a:t>№1 (Северо-запад)</a:t>
            </a:r>
            <a:endParaRPr sz="1650" b="1" i="0" u="none" dirty="0">
              <a:solidFill>
                <a:srgbClr val="11111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05800" y="2800350"/>
            <a:ext cx="3371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Построение маршрута при постепенном заполнении улиц машинами.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800" y="3486150"/>
            <a:ext cx="38862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DM Sans"/>
              </a:rPr>
              <a:t>Динамический обход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800" y="3838575"/>
            <a:ext cx="3371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DM Sans"/>
              </a:rPr>
              <a:t>Корректировка траектории на итерациях 21–63 при встречном потоке.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4524375"/>
            <a:ext cx="38862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DM Sans"/>
              </a:rPr>
              <a:t>Достижение цели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4876800"/>
            <a:ext cx="33718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Безаварийный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финиш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в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точке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(49, 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3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9)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на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 </a:t>
            </a:r>
            <a:r>
              <a:rPr lang="ru-RU" sz="1350" b="0" i="0" u="none" dirty="0">
                <a:solidFill>
                  <a:srgbClr val="52525B"/>
                </a:solidFill>
                <a:latin typeface="DM Sans"/>
              </a:rPr>
              <a:t>7</a:t>
            </a:r>
            <a:r>
              <a:rPr lang="ru-RU" sz="1350" dirty="0">
                <a:solidFill>
                  <a:srgbClr val="52525B"/>
                </a:solidFill>
                <a:latin typeface="DM Sans"/>
              </a:rPr>
              <a:t>9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-м </a:t>
            </a:r>
            <a:r>
              <a:rPr sz="1350" b="0" i="0" u="none" dirty="0" err="1">
                <a:solidFill>
                  <a:srgbClr val="52525B"/>
                </a:solidFill>
                <a:latin typeface="DM Sans"/>
              </a:rPr>
              <a:t>шаге</a:t>
            </a:r>
            <a:r>
              <a:rPr sz="1350" b="0" i="0" u="none" dirty="0">
                <a:solidFill>
                  <a:srgbClr val="52525B"/>
                </a:solidFill>
                <a:latin typeface="DM Sans"/>
              </a:rPr>
              <a:t>.</a:t>
            </a:r>
          </a:p>
        </p:txBody>
      </p:sp>
      <p:pic>
        <p:nvPicPr>
          <p:cNvPr id="13" name="Рисунок 12" descr="Изображение выглядит как снимок экрана, диаграмма, прямоугольный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C89C2AC-3462-97EE-6995-FFF9BF08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304925"/>
            <a:ext cx="50673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95837"/>
            <a:ext cx="10972800" cy="9525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96200"/>
              </p:ext>
            </p:extLst>
          </p:nvPr>
        </p:nvGraphicFramePr>
        <p:xfrm>
          <a:off x="1387004" y="2109787"/>
          <a:ext cx="9417991" cy="2343150"/>
        </p:xfrm>
        <a:graphic>
          <a:graphicData uri="http://schemas.openxmlformats.org/drawingml/2006/table">
            <a:tbl>
              <a:tblPr/>
              <a:tblGrid>
                <a:gridCol w="231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3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7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Стратегия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Реакция на трафик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1111"/>
                          </a:solidFill>
                          <a:latin typeface="DM Sans"/>
                        </a:rPr>
                        <a:t>Средние шаги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111111"/>
                          </a:solidFill>
                          <a:latin typeface="DM Sans"/>
                        </a:rPr>
                        <a:t>Вероятность</a:t>
                      </a:r>
                      <a:r>
                        <a:rPr sz="1350" b="1" i="0" u="none" dirty="0">
                          <a:solidFill>
                            <a:srgbClr val="111111"/>
                          </a:solidFill>
                          <a:latin typeface="DM Sans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111111"/>
                          </a:solidFill>
                          <a:latin typeface="DM Sans"/>
                        </a:rPr>
                        <a:t>успеха</a:t>
                      </a:r>
                      <a:endParaRPr sz="1350" b="1" i="0" u="none" dirty="0">
                        <a:solidFill>
                          <a:srgbClr val="11111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Blind</a:t>
                      </a:r>
                      <a:endParaRPr sz="1350" b="1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Нет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56 – 59 шагов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1" i="0" u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DM Sans"/>
                        </a:rPr>
                        <a:t>Средняя (</a:t>
                      </a:r>
                      <a:r>
                        <a:rPr lang="en-US" sz="1350" b="1" i="0" u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DM Sans"/>
                        </a:rPr>
                        <a:t>~</a:t>
                      </a:r>
                      <a:r>
                        <a:rPr lang="ru-RU" sz="1350" b="1" i="0" u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DM Sans"/>
                        </a:rPr>
                        <a:t>69%) </a:t>
                      </a:r>
                      <a:endParaRPr sz="1350" b="1" i="0" u="none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chemeClr val="tx1"/>
                          </a:solidFill>
                          <a:latin typeface="DM Sans"/>
                        </a:rPr>
                        <a:t>Cautious A*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Только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1 </a:t>
                      </a:r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шаг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57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– </a:t>
                      </a:r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58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шагов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1" i="0" u="none" dirty="0">
                          <a:solidFill>
                            <a:srgbClr val="FF0000"/>
                          </a:solidFill>
                          <a:latin typeface="DM Sans"/>
                        </a:rPr>
                        <a:t>Низкая (</a:t>
                      </a:r>
                      <a:r>
                        <a:rPr lang="en-US" sz="1350" b="1" i="0" u="none" dirty="0">
                          <a:solidFill>
                            <a:srgbClr val="FF0000"/>
                          </a:solidFill>
                          <a:latin typeface="DM Sans"/>
                        </a:rPr>
                        <a:t>~56%</a:t>
                      </a:r>
                      <a:r>
                        <a:rPr lang="ru-RU" sz="1350" b="1" i="0" u="none" dirty="0">
                          <a:solidFill>
                            <a:srgbClr val="FF0000"/>
                          </a:solidFill>
                          <a:latin typeface="DM Sans"/>
                        </a:rPr>
                        <a:t>)</a:t>
                      </a:r>
                      <a:endParaRPr sz="1350" b="1" i="0" u="none" dirty="0">
                        <a:solidFill>
                          <a:srgbClr val="FF0000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9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chemeClr val="tx1"/>
                          </a:solidFill>
                          <a:latin typeface="DM Sans"/>
                        </a:rPr>
                        <a:t>Dynamic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Полный пересчёт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61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– </a:t>
                      </a:r>
                      <a:r>
                        <a:rPr lang="ru-RU"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77</a:t>
                      </a:r>
                      <a:r>
                        <a:rPr sz="1350" b="0" i="0" u="none" dirty="0">
                          <a:solidFill>
                            <a:srgbClr val="18181B"/>
                          </a:solidFill>
                          <a:latin typeface="DM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18181B"/>
                          </a:solidFill>
                          <a:latin typeface="DM Sans"/>
                        </a:rPr>
                        <a:t>шагов</a:t>
                      </a:r>
                      <a:endParaRPr sz="1350" b="0" i="0" u="none" dirty="0">
                        <a:solidFill>
                          <a:srgbClr val="18181B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16A34A"/>
                          </a:solidFill>
                          <a:latin typeface="DM Sans"/>
                        </a:rPr>
                        <a:t>Максимальная</a:t>
                      </a:r>
                      <a:r>
                        <a:rPr sz="1350" b="1" i="0" u="none" dirty="0">
                          <a:solidFill>
                            <a:srgbClr val="16A34A"/>
                          </a:solidFill>
                          <a:latin typeface="DM Sans"/>
                        </a:rPr>
                        <a:t> (</a:t>
                      </a:r>
                      <a:r>
                        <a:rPr lang="en-US" sz="1350" b="1" i="0" u="none" dirty="0">
                          <a:solidFill>
                            <a:srgbClr val="16A34A"/>
                          </a:solidFill>
                          <a:latin typeface="DM Sans"/>
                        </a:rPr>
                        <a:t>~88</a:t>
                      </a:r>
                      <a:r>
                        <a:rPr sz="1350" b="1" i="0" u="none" dirty="0">
                          <a:solidFill>
                            <a:srgbClr val="16A34A"/>
                          </a:solidFill>
                          <a:latin typeface="DM Sans"/>
                        </a:rPr>
                        <a:t>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DM Sans"/>
              </a:rPr>
              <a:t>ИТОГИ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DM Sans"/>
              </a:rPr>
              <a:t>Сравнение стратегий и основные 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4437"/>
            <a:ext cx="10458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FFFFFF"/>
                </a:solidFill>
                <a:latin typeface="DM Sans"/>
              </a:rPr>
              <a:t>Главный</a:t>
            </a:r>
            <a:r>
              <a:rPr sz="1500" b="0" i="0" u="none" dirty="0">
                <a:solidFill>
                  <a:srgbClr val="FFFFFF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DM Sans"/>
              </a:rPr>
              <a:t>вывод</a:t>
            </a:r>
            <a:r>
              <a:rPr sz="1500" b="0" i="0" u="none" dirty="0">
                <a:solidFill>
                  <a:srgbClr val="FFFFFF"/>
                </a:solidFill>
                <a:latin typeface="DM Sans"/>
              </a:rPr>
              <a:t>: </a:t>
            </a:r>
            <a:r>
              <a:rPr lang="ru-RU" sz="1500" b="0" i="0" u="none" dirty="0">
                <a:solidFill>
                  <a:srgbClr val="FFFFFF"/>
                </a:solidFill>
                <a:latin typeface="DM Sans"/>
              </a:rPr>
              <a:t>Dynamic (Объезд) показала наивысшую эффективность (88% успеха): компромисс в виде небольшого увеличения пути (+10–20 шагов на объезды) полностью компенсируется защитой от ДТП.</a:t>
            </a:r>
            <a:endParaRPr sz="1500" b="0" i="0" u="none" dirty="0">
              <a:solidFill>
                <a:srgbClr val="FFFFFF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3251" y="2695575"/>
            <a:ext cx="29054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2563EB"/>
                </a:solidFill>
                <a:latin typeface="DM Sans"/>
              </a:rPr>
              <a:t>ЛАБОРАТОРНАЯ РАБОТА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6253" y="3048000"/>
            <a:ext cx="6939343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DM Sans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726</Words>
  <Application>Microsoft Office PowerPoint</Application>
  <PresentationFormat>Широкоэкранный</PresentationFormat>
  <Paragraphs>119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DM Sans</vt:lpstr>
      <vt:lpstr>Calibri</vt:lpstr>
      <vt:lpstr>JetBrains Mono</vt:lpstr>
      <vt:lpstr>Courier New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Иван Гуров</cp:lastModifiedBy>
  <cp:revision>3</cp:revision>
  <dcterms:created xsi:type="dcterms:W3CDTF">2013-01-27T09:14:16Z</dcterms:created>
  <dcterms:modified xsi:type="dcterms:W3CDTF">2026-10-20T14:52:34Z</dcterms:modified>
  <cp:category/>
</cp:coreProperties>
</file>